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3" r:id="rId7"/>
    <p:sldId id="264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BA87-08AA-06FA-EA01-272A09C1D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E6E38-6267-E48B-BCA9-84CDBD124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245C-4D30-6076-66A6-BF4A2C6C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0C32E-C9A5-BB2F-CF6F-D6CABD89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0988E-7126-FC96-B561-2C78943C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8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F94-D932-5D10-D2B4-17695FAD4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2B782-2583-B275-FE97-C699E610D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8FB38-FDC2-B444-AC54-98F7F4D2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6551-F9F2-DCE3-C983-5356FA4C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C90CA-DDE2-5C15-35E3-FFAAB0CB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89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14FE-B2B7-3AAF-D1D0-AEDBC6F30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AE67C-DBCA-BE81-EC18-F9817AABF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4465B-30B0-CFBB-A6F4-14F61D5B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43A88-AB3E-A7C2-8BFC-FB78C35C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A488A-A90D-1FD7-314C-0645D4D5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68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8A15-EC2A-68CB-8010-24596AF5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B5C2A-E586-7492-53CE-6320E6FD7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99EBB-A422-C593-F5C2-B67E3B813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B8614-615B-E1AB-C91B-A0701779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0C61E-5B83-7BE0-2155-BACF23D2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69BE8-E609-7547-16B6-916F4962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30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AE86-9E4D-409A-25FF-BA950F43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BC76A-BBEF-2485-0D43-786FDA199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DFBC5-8F40-2B5B-FD33-5B5E90D5D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46F34-251C-E6CB-365D-E82B4F571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1F4A-96ED-8E86-CD80-8105141C0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88F58-2849-2ECE-F552-E952A522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8709B-ECB7-7BEF-9058-9C82E3AF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67CD7-2384-E4B3-E623-905F7300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1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37229-E25B-0A95-7121-B7E3A70C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34BE8-7DF1-64E8-1FB7-791976EF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3BBCF-A8D9-51D2-F23F-C291D8390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AAD48-658E-0710-0070-59F155C7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28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0F970-2C0A-9528-12CF-80690EF1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9C3B7-F822-3CDB-5A1F-5C468787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4B522-20F8-4DC3-8EF0-22F19C98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8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88A9-7541-F9A8-A673-A6636FF7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D1AE8-9471-1D75-8072-D7766741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4625A-E8CC-D246-E2EF-A4AC24E88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7079E-F404-887B-2CB2-F991428C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C30D-725B-444E-64B8-7CB5A4D9C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0CD7F-558C-EBA2-27F2-869DAA4D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215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BEE3-DC43-CD8F-8951-F572A9DD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0FE47-4E4F-0EAE-AF7A-BE1AAC26C5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F85BC-B706-A5E8-84FA-D7E188EAA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DACD1-2387-B949-B915-055D6BAA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AFA71-6883-A53C-87DB-3D6D75A3A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2F033-5CE2-EF40-6D67-425017B4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206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34738-B10C-6D9F-9AC0-2E7605DB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8FFEC-7B88-4B97-E3C6-17527B75D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88B99-6DE1-52D5-88E8-8E14FDAF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FD408-865C-4A7D-C77A-83B9E887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39C24-1001-DE66-B495-DD98438E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85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ADCD7-B705-BBC3-D4F5-BF4DED32A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D2698-2335-D3C8-D98B-F3B37AF7E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75FC2-8406-922B-D0C9-8B7491D9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0D05-5C94-2DEC-1809-9A94A7A3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3CBC-6DEB-C059-9C64-5C7CA01C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92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964B8-0DB9-C6E2-CDFB-FFEEF662D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7BA51-0978-1DCF-C62F-61097A96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C6FED-BF02-1D3A-F4B7-1A4ABB4A6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5085-0F70-4849-B3DE-989F3C8DD9BF}" type="datetimeFigureOut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E8F47-73A7-A5CE-61C5-9EE74762B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FCD29-D9AC-1633-EC12-69A01F835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52AEE-B79D-4CC9-8CF5-B98FC7CF1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52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2370-A801-D05B-7EDB-9D39BAFE6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CFI: ML Engineer Interview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0AB14-BDA2-24E4-BCF9-36E157E8B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Alexandros Lemonaris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231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4763-03D8-7CFD-556A-77E9B238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3770"/>
          </a:xfrm>
        </p:spPr>
        <p:txBody>
          <a:bodyPr/>
          <a:lstStyle/>
          <a:p>
            <a:r>
              <a:rPr lang="en-US" dirty="0"/>
              <a:t>Data Inspection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26A68-F67F-AFCC-2CC7-786CF288E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5888"/>
            <a:ext cx="8979229" cy="1917290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Ordinal: </a:t>
            </a:r>
            <a:r>
              <a:rPr lang="en-GB" dirty="0" err="1"/>
              <a:t>price_range_indicator</a:t>
            </a:r>
            <a:r>
              <a:rPr lang="en-GB" dirty="0"/>
              <a:t>, </a:t>
            </a:r>
            <a:r>
              <a:rPr lang="en-GB" dirty="0" err="1"/>
              <a:t>outlet_satisfaction</a:t>
            </a:r>
            <a:r>
              <a:rPr lang="en-GB" dirty="0"/>
              <a:t>, </a:t>
            </a:r>
            <a:r>
              <a:rPr lang="en-GB" dirty="0" err="1"/>
              <a:t>outlet_category_volume_potentiality</a:t>
            </a:r>
            <a:r>
              <a:rPr lang="en-GB" dirty="0"/>
              <a:t>, </a:t>
            </a:r>
            <a:r>
              <a:rPr lang="en-GB" dirty="0" err="1"/>
              <a:t>outlet_volume_potentiality</a:t>
            </a:r>
            <a:r>
              <a:rPr lang="en-GB" dirty="0"/>
              <a:t>, </a:t>
            </a:r>
            <a:r>
              <a:rPr lang="en-GB" dirty="0" err="1"/>
              <a:t>sales_performance_indicator</a:t>
            </a:r>
            <a:endParaRPr lang="en-GB" dirty="0"/>
          </a:p>
          <a:p>
            <a:r>
              <a:rPr lang="en-US" dirty="0"/>
              <a:t>Categorical: outlet, product, </a:t>
            </a:r>
            <a:r>
              <a:rPr lang="en-US" dirty="0" err="1"/>
              <a:t>product_type</a:t>
            </a:r>
            <a:r>
              <a:rPr lang="en-US" dirty="0"/>
              <a:t>, </a:t>
            </a:r>
            <a:r>
              <a:rPr lang="en-GB" dirty="0" err="1"/>
              <a:t>cooler_presence</a:t>
            </a:r>
            <a:r>
              <a:rPr lang="en-GB" dirty="0"/>
              <a:t>, </a:t>
            </a:r>
            <a:r>
              <a:rPr lang="en-GB" u="sng" dirty="0"/>
              <a:t>availability</a:t>
            </a:r>
            <a:endParaRPr lang="en-US" dirty="0"/>
          </a:p>
          <a:p>
            <a:r>
              <a:rPr lang="en-US" dirty="0"/>
              <a:t>Numerical: </a:t>
            </a:r>
            <a:r>
              <a:rPr lang="en-GB" dirty="0" err="1"/>
              <a:t>number_of_competing_outlets</a:t>
            </a:r>
            <a:r>
              <a:rPr lang="en-GB" dirty="0"/>
              <a:t>, </a:t>
            </a:r>
            <a:r>
              <a:rPr lang="en-GB" dirty="0" err="1"/>
              <a:t>touristic_point_of_interest</a:t>
            </a:r>
            <a:r>
              <a:rPr lang="en-GB" dirty="0"/>
              <a:t>, </a:t>
            </a:r>
            <a:r>
              <a:rPr lang="en-GB" dirty="0" err="1"/>
              <a:t>surrounding_traffic</a:t>
            </a:r>
            <a:r>
              <a:rPr lang="en-GB" dirty="0"/>
              <a:t>, </a:t>
            </a:r>
            <a:r>
              <a:rPr lang="en-GB" dirty="0" err="1"/>
              <a:t>consumer_spending_per_capita_on_food_beverages</a:t>
            </a:r>
            <a:r>
              <a:rPr lang="en-GB" dirty="0"/>
              <a:t>, </a:t>
            </a:r>
            <a:r>
              <a:rPr lang="en-GB" dirty="0" err="1"/>
              <a:t>consumer_disposable_income_index</a:t>
            </a:r>
            <a:r>
              <a:rPr lang="en-GB" dirty="0"/>
              <a:t>, </a:t>
            </a:r>
            <a:r>
              <a:rPr lang="en-GB" dirty="0" err="1"/>
              <a:t>popularity_with_consumers</a:t>
            </a:r>
            <a:r>
              <a:rPr lang="en-GB" dirty="0"/>
              <a:t>, </a:t>
            </a:r>
            <a:r>
              <a:rPr lang="en-GB" dirty="0" err="1"/>
              <a:t>consumer_sentiment</a:t>
            </a:r>
            <a:r>
              <a:rPr lang="en-GB" dirty="0"/>
              <a:t>,</a:t>
            </a:r>
          </a:p>
          <a:p>
            <a:r>
              <a:rPr lang="en-GB" dirty="0"/>
              <a:t>Calendar: date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D110B-4DE9-925F-9A8D-D593E494C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04" y="2994710"/>
            <a:ext cx="3593312" cy="1547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12B5AE-2796-043B-579A-D21C793C3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705" y="2994710"/>
            <a:ext cx="3593313" cy="1547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8E9722-3BCF-B3B0-99E2-3F6DB7B0F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28" y="4863808"/>
            <a:ext cx="2493344" cy="20713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189458-DA1E-48C1-3159-D3BC98B614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07" y="4863808"/>
            <a:ext cx="2345936" cy="19639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27C067-BB33-6AE5-D5E7-822F403E0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157" y="4584684"/>
            <a:ext cx="5434905" cy="23505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A4F070-C6F8-6E12-860D-3C1D75A376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7072" y="127032"/>
            <a:ext cx="4204928" cy="10537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0EF7864-580A-CFC7-19DF-CC194381DA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7072" y="1260549"/>
            <a:ext cx="4204927" cy="124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8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08D0D-CB46-E5CD-F926-6222E566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4" y="-127244"/>
            <a:ext cx="10515600" cy="1325563"/>
          </a:xfrm>
        </p:spPr>
        <p:txBody>
          <a:bodyPr/>
          <a:lstStyle/>
          <a:p>
            <a:r>
              <a:rPr lang="en-US" dirty="0"/>
              <a:t>Bivariate correlation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95C45D-5B44-2709-48D0-392E622F58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0337" y="116973"/>
            <a:ext cx="5107249" cy="29337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19108-26B9-3A7C-2760-BEE9D0790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354349"/>
            <a:ext cx="6409016" cy="23866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A85C18-751D-88C4-B25A-03B700CEE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337" y="4354349"/>
            <a:ext cx="4935558" cy="2386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A1C83C-2F61-8D14-2F9A-C43E7AB14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4" y="927084"/>
            <a:ext cx="3994784" cy="315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5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5495-5F1F-A86B-309E-AD482FB4D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09" y="-288018"/>
            <a:ext cx="10515600" cy="1325563"/>
          </a:xfrm>
        </p:spPr>
        <p:txBody>
          <a:bodyPr/>
          <a:lstStyle/>
          <a:p>
            <a:r>
              <a:rPr lang="en-US" dirty="0"/>
              <a:t>Data Preparation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03510-A582-2F7B-B4A1-8A00F41D3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09" y="760499"/>
            <a:ext cx="10515600" cy="5895940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Assumption: Features of the outlet are computed on information available BEFORE the survey date.</a:t>
            </a:r>
          </a:p>
          <a:p>
            <a:r>
              <a:rPr lang="en-US" sz="1800" dirty="0"/>
              <a:t>Extract features from </a:t>
            </a:r>
            <a:r>
              <a:rPr lang="en-US" sz="1800" b="1" dirty="0"/>
              <a:t>date </a:t>
            </a:r>
            <a:r>
              <a:rPr lang="en-US" sz="1800" dirty="0"/>
              <a:t>(month, </a:t>
            </a:r>
            <a:r>
              <a:rPr lang="en-US" sz="1800" dirty="0" err="1"/>
              <a:t>day_of_week</a:t>
            </a:r>
            <a:r>
              <a:rPr lang="en-US" sz="1800" dirty="0"/>
              <a:t>, </a:t>
            </a:r>
            <a:r>
              <a:rPr lang="en-US" sz="1800" dirty="0" err="1"/>
              <a:t>day_of_month</a:t>
            </a:r>
            <a:r>
              <a:rPr lang="en-US" sz="1800" dirty="0"/>
              <a:t>, year)</a:t>
            </a:r>
          </a:p>
          <a:p>
            <a:r>
              <a:rPr lang="en-US" sz="1800" dirty="0"/>
              <a:t>Ordinal transformation for </a:t>
            </a:r>
            <a:r>
              <a:rPr lang="en-GB" sz="1800" b="1" dirty="0" err="1"/>
              <a:t>outlet_volume_potentiality</a:t>
            </a:r>
            <a:r>
              <a:rPr lang="en-GB" sz="1800" b="1" dirty="0"/>
              <a:t> </a:t>
            </a:r>
            <a:r>
              <a:rPr lang="en-GB" sz="1800" dirty="0"/>
              <a:t>and </a:t>
            </a:r>
            <a:r>
              <a:rPr lang="en-GB" sz="1800" b="1" dirty="0" err="1"/>
              <a:t>outlet_category_volume_potentiality</a:t>
            </a:r>
            <a:endParaRPr lang="en-GB" sz="1800" b="1" dirty="0"/>
          </a:p>
          <a:p>
            <a:r>
              <a:rPr lang="en-GB" sz="1800" dirty="0"/>
              <a:t>Deduplication</a:t>
            </a:r>
          </a:p>
          <a:p>
            <a:r>
              <a:rPr lang="en-GB" sz="1800" dirty="0"/>
              <a:t>train – validation –test set splits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r>
              <a:rPr lang="en-GB" sz="2200" dirty="0" err="1"/>
              <a:t>outlet_attributes</a:t>
            </a:r>
            <a:r>
              <a:rPr lang="en-GB" sz="2200" dirty="0"/>
              <a:t> = [ "</a:t>
            </a:r>
            <a:r>
              <a:rPr lang="en-GB" sz="2200" dirty="0" err="1"/>
              <a:t>outlet_type</a:t>
            </a:r>
            <a:r>
              <a:rPr lang="en-GB" sz="2200" dirty="0"/>
              <a:t>", "</a:t>
            </a:r>
            <a:r>
              <a:rPr lang="en-GB" sz="2200" dirty="0" err="1"/>
              <a:t>sales_performance_indicator</a:t>
            </a:r>
            <a:r>
              <a:rPr lang="en-GB" sz="2200" dirty="0"/>
              <a:t>", "</a:t>
            </a:r>
            <a:r>
              <a:rPr lang="en-GB" sz="2200" dirty="0" err="1"/>
              <a:t>outlet_volume_potentiality</a:t>
            </a:r>
            <a:r>
              <a:rPr lang="en-GB" sz="2200" dirty="0"/>
              <a:t>",  "</a:t>
            </a:r>
            <a:r>
              <a:rPr lang="en-GB" sz="2200" dirty="0" err="1"/>
              <a:t>cooler_presence</a:t>
            </a:r>
            <a:r>
              <a:rPr lang="en-GB" sz="2200" dirty="0"/>
              <a:t>",  "</a:t>
            </a:r>
            <a:r>
              <a:rPr lang="en-GB" sz="2200" dirty="0" err="1"/>
              <a:t>outlet_satisfaction</a:t>
            </a:r>
            <a:r>
              <a:rPr lang="en-GB" sz="2200" dirty="0"/>
              <a:t>",  "</a:t>
            </a:r>
            <a:r>
              <a:rPr lang="en-GB" sz="2200" dirty="0" err="1"/>
              <a:t>price_range_indicator</a:t>
            </a:r>
            <a:r>
              <a:rPr lang="en-GB" sz="2200" dirty="0"/>
              <a:t>",  "</a:t>
            </a:r>
            <a:r>
              <a:rPr lang="en-GB" sz="2200" dirty="0" err="1"/>
              <a:t>consumer_sentiment</a:t>
            </a:r>
            <a:r>
              <a:rPr lang="en-GB" sz="2200" dirty="0"/>
              <a:t>", "</a:t>
            </a:r>
            <a:r>
              <a:rPr lang="en-GB" sz="2200" dirty="0" err="1"/>
              <a:t>popularity_with_consumers</a:t>
            </a:r>
            <a:r>
              <a:rPr lang="en-GB" sz="2200" dirty="0"/>
              <a:t>", "</a:t>
            </a:r>
            <a:r>
              <a:rPr lang="en-GB" sz="2200" dirty="0" err="1"/>
              <a:t>consumer_disposable_income_index</a:t>
            </a:r>
            <a:r>
              <a:rPr lang="en-GB" sz="2200" dirty="0"/>
              <a:t>", "</a:t>
            </a:r>
            <a:r>
              <a:rPr lang="en-GB" sz="2200" dirty="0" err="1"/>
              <a:t>consumer_spending_per_capita_on_food_beverages</a:t>
            </a:r>
            <a:r>
              <a:rPr lang="en-GB" sz="2200" dirty="0"/>
              <a:t>",  "</a:t>
            </a:r>
            <a:r>
              <a:rPr lang="en-GB" sz="2200" dirty="0" err="1"/>
              <a:t>surrounding_traffic</a:t>
            </a:r>
            <a:r>
              <a:rPr lang="en-GB" sz="2200" dirty="0"/>
              <a:t>", "</a:t>
            </a:r>
            <a:r>
              <a:rPr lang="en-GB" sz="2200" dirty="0" err="1"/>
              <a:t>touristic_point_of_interest</a:t>
            </a:r>
            <a:r>
              <a:rPr lang="en-GB" sz="2200" dirty="0"/>
              <a:t>", "</a:t>
            </a:r>
            <a:r>
              <a:rPr lang="en-GB" sz="2200" dirty="0" err="1"/>
              <a:t>number_of_competing_outlets</a:t>
            </a:r>
            <a:r>
              <a:rPr lang="en-GB" sz="2200" dirty="0"/>
              <a:t>"] – </a:t>
            </a:r>
            <a:r>
              <a:rPr lang="en-GB" sz="2200" b="1" dirty="0"/>
              <a:t>stable across outlets</a:t>
            </a:r>
            <a:endParaRPr lang="en-GB" sz="1500" b="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7C8635-F97E-5B65-A6C2-F6009527B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09" y="2637148"/>
            <a:ext cx="7643522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907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1C54-2CD7-63A1-D392-E349C2C1A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74" y="-136319"/>
            <a:ext cx="10515600" cy="980382"/>
          </a:xfrm>
        </p:spPr>
        <p:txBody>
          <a:bodyPr/>
          <a:lstStyle/>
          <a:p>
            <a:r>
              <a:rPr lang="en-US" dirty="0"/>
              <a:t>Modeling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2F600-75BD-28BB-A798-26A60D7C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03386"/>
            <a:ext cx="11284974" cy="5473578"/>
          </a:xfrm>
        </p:spPr>
        <p:txBody>
          <a:bodyPr/>
          <a:lstStyle/>
          <a:p>
            <a:r>
              <a:rPr lang="en-US" sz="2000" dirty="0"/>
              <a:t>Non parametric approach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dirty="0"/>
              <a:t>Logistic regression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Error analysis: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9F255-5D53-CA02-5DAE-45C80F57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395" y="83416"/>
            <a:ext cx="6463003" cy="1883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1CC3C6-DA02-5F03-8A18-96D74FCEA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8808"/>
            <a:ext cx="5858637" cy="2038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0ABE38-F888-6E60-CF29-8CD0FFFB3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7463" y="3646253"/>
            <a:ext cx="4951858" cy="1508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C4EB24-B8B9-9983-F2C8-D6EBD5B62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321" y="5339812"/>
            <a:ext cx="4507807" cy="13255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0B853E-89C8-A007-F082-23B32F753C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773" y="2094795"/>
            <a:ext cx="5455977" cy="188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39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E9E3-94E5-A7AD-8D9A-385A9BD30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-167436"/>
            <a:ext cx="10515600" cy="1031596"/>
          </a:xfrm>
        </p:spPr>
        <p:txBody>
          <a:bodyPr/>
          <a:lstStyle/>
          <a:p>
            <a:r>
              <a:rPr lang="en-US" dirty="0"/>
              <a:t>Modeling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70AB-67FB-9EF8-8F22-6EA779874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7" y="552659"/>
            <a:ext cx="11273413" cy="5624304"/>
          </a:xfrm>
        </p:spPr>
        <p:txBody>
          <a:bodyPr/>
          <a:lstStyle/>
          <a:p>
            <a:r>
              <a:rPr lang="en-US" sz="2000" dirty="0" err="1"/>
              <a:t>XGBoost</a:t>
            </a:r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Error analysis: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MLP:								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EBF9E6-4008-6ECD-8931-E53806CD4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7" y="2170816"/>
            <a:ext cx="6335692" cy="1962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6E91D-57F3-C55A-BA4C-DE510A5C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251" y="76899"/>
            <a:ext cx="6335692" cy="1931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3394E5-484C-EE00-3BF8-15E45E4A6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57" y="4671351"/>
            <a:ext cx="6939224" cy="18041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9ABBD0-0DCD-5737-9E3D-345E50973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744" y="2885174"/>
            <a:ext cx="5081869" cy="6560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9B99F1-07F3-26EC-0547-B8ABC8A79C03}"/>
              </a:ext>
            </a:extLst>
          </p:cNvPr>
          <p:cNvSpPr txBox="1"/>
          <p:nvPr/>
        </p:nvSpPr>
        <p:spPr>
          <a:xfrm>
            <a:off x="7124281" y="2451798"/>
            <a:ext cx="4722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Outlet-embeddings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Error analysis</a:t>
            </a:r>
          </a:p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F7A99E-50F0-E339-3733-B2D522066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886" y="3888648"/>
            <a:ext cx="4722727" cy="296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58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D4394-C824-4208-1ED5-BF5ADA7A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on the test set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6C37CE-D3BD-98C2-12EE-BD7999864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4506" y="1690688"/>
            <a:ext cx="9484696" cy="372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5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61EA3-70FD-5819-48C2-09090D66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EF36A-B42E-68D5-DD42-821F13E60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understanding and objectives</a:t>
            </a:r>
          </a:p>
          <a:p>
            <a:r>
              <a:rPr lang="en-GB" dirty="0"/>
              <a:t>Data Inspection and Analysis</a:t>
            </a:r>
          </a:p>
          <a:p>
            <a:r>
              <a:rPr lang="en-GB" dirty="0"/>
              <a:t>Candidate Selection and </a:t>
            </a:r>
            <a:r>
              <a:rPr lang="en-GB" dirty="0" err="1"/>
              <a:t>Modeling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sz="2000" dirty="0"/>
              <a:t>Data Ingestion -&gt; Feature Pipelines and Inference -&gt; Assignment Optimization </a:t>
            </a:r>
          </a:p>
          <a:p>
            <a:pPr marL="0" indent="0">
              <a:buNone/>
            </a:pPr>
            <a:r>
              <a:rPr lang="en-GB" sz="2000" dirty="0"/>
              <a:t>-&gt; Business Review and Execution -&gt; Outcome Measurement and Feedback</a:t>
            </a:r>
          </a:p>
          <a:p>
            <a:r>
              <a:rPr lang="en-GB" dirty="0"/>
              <a:t>Evaluation and Rollout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9386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D797-A5D8-5C0B-A24A-44EA80A3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87346-9C5E-F4B4-87C5-BD79D05E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into consideration historical data</a:t>
            </a:r>
          </a:p>
          <a:p>
            <a:r>
              <a:rPr lang="en-US" dirty="0"/>
              <a:t>Circular relationship with calendar columns</a:t>
            </a:r>
          </a:p>
          <a:p>
            <a:r>
              <a:rPr lang="en-US" dirty="0"/>
              <a:t>Error analysis</a:t>
            </a:r>
          </a:p>
          <a:p>
            <a:r>
              <a:rPr lang="en-US" dirty="0"/>
              <a:t>Data engineering optimizations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70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366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CFI: ML Engineer Interview</vt:lpstr>
      <vt:lpstr>Data Inspection</vt:lpstr>
      <vt:lpstr>Bivariate correlation</vt:lpstr>
      <vt:lpstr>Data Preparation</vt:lpstr>
      <vt:lpstr>Modeling</vt:lpstr>
      <vt:lpstr>Modeling</vt:lpstr>
      <vt:lpstr>Results on the test set</vt:lpstr>
      <vt:lpstr>Targeting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Alexandros Lemonaris</dc:creator>
  <cp:lastModifiedBy>Alexandros Lemonaris</cp:lastModifiedBy>
  <cp:revision>10</cp:revision>
  <dcterms:created xsi:type="dcterms:W3CDTF">2026-10-11T10:50:01Z</dcterms:created>
  <dcterms:modified xsi:type="dcterms:W3CDTF">2026-10-12T11:37:17Z</dcterms:modified>
</cp:coreProperties>
</file>